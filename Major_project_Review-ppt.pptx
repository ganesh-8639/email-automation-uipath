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77" r:id="rId3"/>
    <p:sldId id="271" r:id="rId4"/>
    <p:sldId id="272" r:id="rId5"/>
    <p:sldId id="273" r:id="rId6"/>
    <p:sldId id="274" r:id="rId7"/>
    <p:sldId id="275" r:id="rId8"/>
    <p:sldId id="268" r:id="rId9"/>
    <p:sldId id="276" r:id="rId10"/>
    <p:sldId id="270" r:id="rId11"/>
    <p:sldId id="269" r:id="rId12"/>
    <p:sldId id="278" r:id="rId13"/>
    <p:sldId id="279" r:id="rId14"/>
    <p:sldId id="280" r:id="rId15"/>
    <p:sldId id="282" r:id="rId16"/>
    <p:sldId id="281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1C6AF-7633-424A-A834-CDF0F87F292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58164-558C-4E4F-AF58-3BE9782F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397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58164-558C-4E4F-AF58-3BE9782F6B4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246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D7FED8-3FF0-F3B5-F19A-2220941388B6}"/>
              </a:ext>
            </a:extLst>
          </p:cNvPr>
          <p:cNvSpPr txBox="1"/>
          <p:nvPr/>
        </p:nvSpPr>
        <p:spPr>
          <a:xfrm>
            <a:off x="0" y="21198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1605" algn="ctr">
              <a:lnSpc>
                <a:spcPct val="100000"/>
              </a:lnSpc>
              <a:spcBef>
                <a:spcPts val="1060"/>
              </a:spcBef>
            </a:pPr>
            <a:r>
              <a:rPr lang="en-US" sz="2800" b="1" dirty="0">
                <a:solidFill>
                  <a:srgbClr val="31833D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lang="en-US" sz="2800" b="1" spc="85" dirty="0">
                <a:solidFill>
                  <a:srgbClr val="31833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b="1" dirty="0">
                <a:solidFill>
                  <a:srgbClr val="31833D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z="2800" b="1" spc="65" dirty="0">
                <a:solidFill>
                  <a:srgbClr val="31833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b="1" dirty="0">
                <a:solidFill>
                  <a:srgbClr val="31833D"/>
                </a:solidFill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lang="en-US" sz="2800" b="1" spc="15" dirty="0">
                <a:solidFill>
                  <a:srgbClr val="31833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b="1" spc="-10" dirty="0">
                <a:solidFill>
                  <a:srgbClr val="31833D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lang="en-US"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9E716-ABA0-67CF-E09A-4D36A7374B90}"/>
              </a:ext>
            </a:extLst>
          </p:cNvPr>
          <p:cNvSpPr txBox="1"/>
          <p:nvPr/>
        </p:nvSpPr>
        <p:spPr>
          <a:xfrm>
            <a:off x="157316" y="136656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</a:t>
            </a:r>
            <a:r>
              <a:rPr lang="en-IN" sz="3600" b="1" spc="-60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25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IN" sz="3600" b="1" spc="-150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10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808220-3453-737E-820E-8B50A8F935F8}"/>
              </a:ext>
            </a:extLst>
          </p:cNvPr>
          <p:cNvSpPr txBox="1"/>
          <p:nvPr/>
        </p:nvSpPr>
        <p:spPr>
          <a:xfrm>
            <a:off x="845574" y="3355525"/>
            <a:ext cx="1211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an Intelligent Email Automation System Using RPA and Generative AI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E94EC-9FCD-4E73-F778-8917A205373A}"/>
              </a:ext>
            </a:extLst>
          </p:cNvPr>
          <p:cNvSpPr txBox="1"/>
          <p:nvPr/>
        </p:nvSpPr>
        <p:spPr>
          <a:xfrm>
            <a:off x="466631" y="4393415"/>
            <a:ext cx="43360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G.Shankar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 : </a:t>
            </a: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Assistant</a:t>
            </a:r>
            <a:r>
              <a:rPr lang="en-IN"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2000" spc="-10" dirty="0">
                <a:latin typeface="Times New Roman" panose="02020603050405020304"/>
                <a:cs typeface="Times New Roman" panose="02020603050405020304"/>
              </a:rPr>
              <a:t>Professor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1CB042-0DEC-E3CF-9E8C-591F747204F9}"/>
              </a:ext>
            </a:extLst>
          </p:cNvPr>
          <p:cNvSpPr txBox="1"/>
          <p:nvPr/>
        </p:nvSpPr>
        <p:spPr>
          <a:xfrm>
            <a:off x="7718322" y="4201455"/>
            <a:ext cx="43360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No:19</a:t>
            </a:r>
          </a:p>
          <a:p>
            <a:pPr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K.Naina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Harshitha(227R1A1230)</a:t>
            </a:r>
          </a:p>
          <a:p>
            <a:pPr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S.Ganesh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(227R1A1252)</a:t>
            </a:r>
          </a:p>
          <a:p>
            <a:pPr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J.Adithya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(227R1A1222)</a:t>
            </a:r>
          </a:p>
        </p:txBody>
      </p:sp>
      <p:pic>
        <p:nvPicPr>
          <p:cNvPr id="1026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A08D62A9-98B3-28B4-6E7A-3012CE5FC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75" y="1308045"/>
            <a:ext cx="17430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47C205-3B61-81DF-6ED1-E1CD8601229E}"/>
              </a:ext>
            </a:extLst>
          </p:cNvPr>
          <p:cNvSpPr txBox="1"/>
          <p:nvPr/>
        </p:nvSpPr>
        <p:spPr>
          <a:xfrm>
            <a:off x="3814916" y="2778368"/>
            <a:ext cx="510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Stage-II Review-I</a:t>
            </a:r>
          </a:p>
        </p:txBody>
      </p:sp>
    </p:spTree>
    <p:extLst>
      <p:ext uri="{BB962C8B-B14F-4D97-AF65-F5344CB8AC3E}">
        <p14:creationId xmlns:p14="http://schemas.microsoft.com/office/powerpoint/2010/main" val="257550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044648-0A94-81BE-86EC-822B9C1B3A58}"/>
              </a:ext>
            </a:extLst>
          </p:cNvPr>
          <p:cNvSpPr txBox="1"/>
          <p:nvPr/>
        </p:nvSpPr>
        <p:spPr>
          <a:xfrm>
            <a:off x="934065" y="1102945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8EB9-2A05-7F34-B2C2-438859462158}"/>
              </a:ext>
            </a:extLst>
          </p:cNvPr>
          <p:cNvSpPr txBox="1"/>
          <p:nvPr/>
        </p:nvSpPr>
        <p:spPr>
          <a:xfrm>
            <a:off x="934065" y="1465006"/>
            <a:ext cx="9635613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PROJECT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pic>
        <p:nvPicPr>
          <p:cNvPr id="2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802CFB66-4F55-3A8E-AEE6-5A549E31E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2248" y="68043"/>
            <a:ext cx="1479752" cy="125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49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41C0D9-16C5-E4F0-0635-60FEBAFBFCB7}"/>
              </a:ext>
            </a:extLst>
          </p:cNvPr>
          <p:cNvSpPr txBox="1"/>
          <p:nvPr/>
        </p:nvSpPr>
        <p:spPr>
          <a:xfrm>
            <a:off x="0" y="1042219"/>
            <a:ext cx="12192000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OVERVIEW</a:t>
            </a:r>
          </a:p>
        </p:txBody>
      </p:sp>
      <p:pic>
        <p:nvPicPr>
          <p:cNvPr id="2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0E559A77-C792-2207-75FD-E7B59C47A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928" y="0"/>
            <a:ext cx="1622323" cy="119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0FDF215-330C-E754-4581-4AAEC740C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786" y="1738254"/>
            <a:ext cx="1046927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communication produces a large number of messages that are difficult to handle manually.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email management using UiPath RPA and Generative AI.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retrieves emails through the IMAP protocol and extracts the email body.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processes attachments such as PDF and document files.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is used to summarize the email content and attachments.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providing concise and meaningful information to the user.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summarized content is sent to the user via WhatsApp Web automation.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detects the email language and translates it if required.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reply is generated based on the summarized content.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user approval through WhatsApp, the reply is sent using SMTP.</a:t>
            </a:r>
          </a:p>
        </p:txBody>
      </p:sp>
    </p:spTree>
    <p:extLst>
      <p:ext uri="{BB962C8B-B14F-4D97-AF65-F5344CB8AC3E}">
        <p14:creationId xmlns:p14="http://schemas.microsoft.com/office/powerpoint/2010/main" val="56253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23168D-0C68-21B1-C575-D2EA05FAF627}"/>
              </a:ext>
            </a:extLst>
          </p:cNvPr>
          <p:cNvSpPr txBox="1"/>
          <p:nvPr/>
        </p:nvSpPr>
        <p:spPr>
          <a:xfrm>
            <a:off x="0" y="1081548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4D8BC-45D0-75DA-C198-6845311A6534}"/>
              </a:ext>
            </a:extLst>
          </p:cNvPr>
          <p:cNvSpPr txBox="1"/>
          <p:nvPr/>
        </p:nvSpPr>
        <p:spPr>
          <a:xfrm>
            <a:off x="1115961" y="1720620"/>
            <a:ext cx="99600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“E-Mail Assistant — Automation of E-Mail Handling and Management using RPA (2022)”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explains how UiPath RPA can be used to automate email handling tasks such as sorting emails . The main goal is to reduce manual effort in managing emails.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“RPA-Driven Email Automation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(2024)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presents an RPA-based email system that automatically detects spam and classifies emails using predefined rules. It focuses on filtering emails rather than understanding their content.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“AI-Powered Email Automation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(2025)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describes an AI-based email automation system developed using UiPath for handling customer emails. The system mainly automates replies using predefined workflows.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67DB706C-7678-7A3B-FAFD-9218696E4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503" y="0"/>
            <a:ext cx="1553497" cy="119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11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BD2840-ED0D-B346-76E7-55B268260FEF}"/>
              </a:ext>
            </a:extLst>
          </p:cNvPr>
          <p:cNvSpPr txBox="1"/>
          <p:nvPr/>
        </p:nvSpPr>
        <p:spPr>
          <a:xfrm>
            <a:off x="117987" y="1143429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AB617-0865-4398-2282-9039C8D25E47}"/>
              </a:ext>
            </a:extLst>
          </p:cNvPr>
          <p:cNvSpPr txBox="1"/>
          <p:nvPr/>
        </p:nvSpPr>
        <p:spPr>
          <a:xfrm>
            <a:off x="1238865" y="1681316"/>
            <a:ext cx="120641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(2022)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mainly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does not understand email context.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summarization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email body or attachments.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support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detection, translation, or intelligent reply generation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(2024)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and rule-based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for email classification.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support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or attachment summarization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multilingual support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replies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(2025)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handling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attachments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PDF or documents.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approval control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sending automated replies.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F9BEC9F5-B3EF-FBBF-9D55-805C7CDF1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9832"/>
            <a:ext cx="1524000" cy="125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537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89F48E-E684-5438-0803-61D6F667874C}"/>
              </a:ext>
            </a:extLst>
          </p:cNvPr>
          <p:cNvSpPr txBox="1"/>
          <p:nvPr/>
        </p:nvSpPr>
        <p:spPr>
          <a:xfrm>
            <a:off x="0" y="1052052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E444D-07BC-497E-5E2B-CFDDD668D19F}"/>
              </a:ext>
            </a:extLst>
          </p:cNvPr>
          <p:cNvSpPr txBox="1"/>
          <p:nvPr/>
        </p:nvSpPr>
        <p:spPr>
          <a:xfrm>
            <a:off x="1150374" y="1641988"/>
            <a:ext cx="967494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email processing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UiPath Robotic Process Automation integrated with Generative 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Incoming emails are retrieved from the mail server using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IMAP protocol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email body and attachments are extracted, and text from PDF or document attachments is processed separately.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summarize both email content and attachment text to reduce lengthy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of the email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performs translation when required.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content and AI-generated reply suggestions are sent to the user via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Web automation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approval.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user confirmation, the final email response is sent automatically using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 protocol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3BB50711-088D-67BF-3B08-888A253EC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925" y="73239"/>
            <a:ext cx="17430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611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200A4-3C87-51EB-D3B0-FD3A37A9F906}"/>
              </a:ext>
            </a:extLst>
          </p:cNvPr>
          <p:cNvSpPr txBox="1"/>
          <p:nvPr/>
        </p:nvSpPr>
        <p:spPr>
          <a:xfrm>
            <a:off x="-255638" y="1017650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4A7B8AB-54A2-4F32-F51B-6AEBB2B7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329" y="1452598"/>
            <a:ext cx="9365256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by automating email reading, summarization, and replying.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and concise summaries of long emails and attached documents.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multilingual communication through language detection and translation.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email attachments such as PDF and document files intelligently.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Sends instant notifications to users through WhatsApp for faster awareness.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intelligent replies using Generative AI instead of fixed rules based.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user approval before sending replies, ensuring safe automation.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productivity and response time in organizations.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used across different domains such as education, business, and customer support.</a:t>
            </a:r>
          </a:p>
        </p:txBody>
      </p:sp>
      <p:pic>
        <p:nvPicPr>
          <p:cNvPr id="2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9236095E-34C0-FBE4-C5A4-FF57FA4A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925" y="118342"/>
            <a:ext cx="17430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3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5A4245-2894-D3C0-69DB-73B510855F71}"/>
              </a:ext>
            </a:extLst>
          </p:cNvPr>
          <p:cNvSpPr txBox="1"/>
          <p:nvPr/>
        </p:nvSpPr>
        <p:spPr>
          <a:xfrm>
            <a:off x="-3457281" y="1313992"/>
            <a:ext cx="121133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6ED3F-12B5-7FB9-CDD0-1AECAE9C9006}"/>
              </a:ext>
            </a:extLst>
          </p:cNvPr>
          <p:cNvSpPr txBox="1"/>
          <p:nvPr/>
        </p:nvSpPr>
        <p:spPr>
          <a:xfrm>
            <a:off x="532562" y="2059912"/>
            <a:ext cx="728505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/ 11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	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UiPath Studio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Community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	               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UiPath Robotic Process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Automation (RPA)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 /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Microsoft 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9BD7CF-E431-1EFD-290B-694C52DF432D}"/>
              </a:ext>
            </a:extLst>
          </p:cNvPr>
          <p:cNvSpPr txBox="1"/>
          <p:nvPr/>
        </p:nvSpPr>
        <p:spPr>
          <a:xfrm>
            <a:off x="6096000" y="1314013"/>
            <a:ext cx="50174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DC44D6-39FB-6B68-DDC3-8C16D6E82F20}"/>
              </a:ext>
            </a:extLst>
          </p:cNvPr>
          <p:cNvSpPr txBox="1"/>
          <p:nvPr/>
        </p:nvSpPr>
        <p:spPr>
          <a:xfrm>
            <a:off x="6199834" y="2059912"/>
            <a:ext cx="4913643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   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i3 or higher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GB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	      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2 GB free disk space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Peripherals	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Keyboard, Mouse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543FAC18-09D0-B58B-7669-E121DAE1E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925" y="0"/>
            <a:ext cx="17430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56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AF4E15-3383-8B9F-315C-33B3E52DCBA4}"/>
              </a:ext>
            </a:extLst>
          </p:cNvPr>
          <p:cNvSpPr txBox="1"/>
          <p:nvPr/>
        </p:nvSpPr>
        <p:spPr>
          <a:xfrm>
            <a:off x="78658" y="1120877"/>
            <a:ext cx="121133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A69ED-F785-2BE1-D094-51D0B89CDF53}"/>
              </a:ext>
            </a:extLst>
          </p:cNvPr>
          <p:cNvSpPr txBox="1"/>
          <p:nvPr/>
        </p:nvSpPr>
        <p:spPr>
          <a:xfrm>
            <a:off x="1305232" y="2143433"/>
            <a:ext cx="95815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novelty of this project lies in integrating Robotic Process Automation (RPA) with Generative Artificial Intelligence to build an intelligent, user-controlled email automation system. Unlike traditional rule-based email automation, the system understands email content and attachments using Generative AI, supports multilingual communication, and involves the user in decision-making through real-time WhatsApp approval. This combination makes the system both intelligent and reliable.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MRTC Hyderabad: Courses, Fees, Admission, Placement, Facilities">
            <a:extLst>
              <a:ext uri="{FF2B5EF4-FFF2-40B4-BE49-F238E27FC236}">
                <a16:creationId xmlns:a16="http://schemas.microsoft.com/office/drawing/2014/main" id="{F75AD9DC-E1F8-EA29-E03D-E1C952A5F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925" y="142064"/>
            <a:ext cx="17430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858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F0EEEA-103B-10B4-EFB7-DAAA984B8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90700"/>
              </p:ext>
            </p:extLst>
          </p:nvPr>
        </p:nvGraphicFramePr>
        <p:xfrm>
          <a:off x="639096" y="1651819"/>
          <a:ext cx="10726994" cy="4111925"/>
        </p:xfrm>
        <a:graphic>
          <a:graphicData uri="http://schemas.openxmlformats.org/drawingml/2006/table">
            <a:tbl>
              <a:tblPr/>
              <a:tblGrid>
                <a:gridCol w="5363497">
                  <a:extLst>
                    <a:ext uri="{9D8B030D-6E8A-4147-A177-3AD203B41FA5}">
                      <a16:colId xmlns:a16="http://schemas.microsoft.com/office/drawing/2014/main" val="1765266076"/>
                    </a:ext>
                  </a:extLst>
                </a:gridCol>
                <a:gridCol w="5363497">
                  <a:extLst>
                    <a:ext uri="{9D8B030D-6E8A-4147-A177-3AD203B41FA5}">
                      <a16:colId xmlns:a16="http://schemas.microsoft.com/office/drawing/2014/main" val="2677568176"/>
                    </a:ext>
                  </a:extLst>
                </a:gridCol>
              </a:tblGrid>
              <a:tr h="3885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Function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65350"/>
                  </a:ext>
                </a:extLst>
              </a:tr>
              <a:tr h="67990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· Email Retrieval (IMAP)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to the mail server, fetches unread messages (subject + body).</a:t>
                      </a: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843616"/>
                  </a:ext>
                </a:extLst>
              </a:tr>
              <a:tr h="67990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· Language Detection &amp; Translation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the email’s language; translates non-English text to English for processing.</a:t>
                      </a: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235335"/>
                  </a:ext>
                </a:extLst>
              </a:tr>
              <a:tr h="67990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· AI Summarization (Gen AI)</a:t>
                      </a:r>
                      <a:endParaRPr lang="it-IT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the email text to OpenAI, receives a short line summary.</a:t>
                      </a: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628679"/>
                  </a:ext>
                </a:extLst>
              </a:tr>
              <a:tr h="9712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· Content Generation &amp; Reply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the reply message using the summary and sends it back via SMTP/Reply Mail.</a:t>
                      </a: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409189"/>
                  </a:ext>
                </a:extLst>
              </a:tr>
              <a:tr h="67990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· Communication (WhatsApp 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the same summarized reply to the user’s phone using a messaging API.</a:t>
                      </a:r>
                    </a:p>
                  </a:txBody>
                  <a:tcPr marL="78430" marR="78430" marT="39215" marB="39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6709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8F91F9-108A-5278-092E-58CB83057717}"/>
              </a:ext>
            </a:extLst>
          </p:cNvPr>
          <p:cNvSpPr txBox="1"/>
          <p:nvPr/>
        </p:nvSpPr>
        <p:spPr>
          <a:xfrm>
            <a:off x="0" y="1022555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A916D0-843D-F2A7-C920-9254BA34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925" y="43742"/>
            <a:ext cx="17430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70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949834-A17F-FD08-B75C-19A8EA947D27}"/>
              </a:ext>
            </a:extLst>
          </p:cNvPr>
          <p:cNvSpPr txBox="1"/>
          <p:nvPr/>
        </p:nvSpPr>
        <p:spPr>
          <a:xfrm>
            <a:off x="1671483" y="1114058"/>
            <a:ext cx="1211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8587A-A892-E827-2C52-2309B4A24000}"/>
              </a:ext>
            </a:extLst>
          </p:cNvPr>
          <p:cNvSpPr txBox="1"/>
          <p:nvPr/>
        </p:nvSpPr>
        <p:spPr>
          <a:xfrm>
            <a:off x="5997677" y="1691148"/>
            <a:ext cx="5791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architecture of the Email Automation project shows how different components like the IMAP mail server, UiPath RPA bot, language detection, translation, summarization, content generation, and message-sending modules work together to automate the email process.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4308B-9700-F4B6-E351-50FDB74B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98" y="353961"/>
            <a:ext cx="4800131" cy="6012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6812F4-E194-F1BA-F7C1-04C7E9966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925" y="0"/>
            <a:ext cx="17430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57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F41CE6-0F57-3091-90C6-1DCAA37514C8}"/>
              </a:ext>
            </a:extLst>
          </p:cNvPr>
          <p:cNvSpPr txBox="1"/>
          <p:nvPr/>
        </p:nvSpPr>
        <p:spPr>
          <a:xfrm>
            <a:off x="5805949" y="845575"/>
            <a:ext cx="6007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633FE-7AA8-54F0-AA3A-4E535FAC5A45}"/>
              </a:ext>
            </a:extLst>
          </p:cNvPr>
          <p:cNvSpPr txBox="1"/>
          <p:nvPr/>
        </p:nvSpPr>
        <p:spPr>
          <a:xfrm>
            <a:off x="5879689" y="1435510"/>
            <a:ext cx="4149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797881-1B7C-5BF2-1207-7E2E4B613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37" y="1032386"/>
            <a:ext cx="5023313" cy="49947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296DD2-B586-376B-B859-F07A55B0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925" y="25810"/>
            <a:ext cx="17430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33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7BB18C-F493-1968-70E4-77D525B208C9}"/>
              </a:ext>
            </a:extLst>
          </p:cNvPr>
          <p:cNvSpPr txBox="1"/>
          <p:nvPr/>
        </p:nvSpPr>
        <p:spPr>
          <a:xfrm>
            <a:off x="8563896" y="1488512"/>
            <a:ext cx="3470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F5D1E-8B47-02C7-1522-21B8252D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925" y="0"/>
            <a:ext cx="1743075" cy="1409700"/>
          </a:xfrm>
          <a:prstGeom prst="rect">
            <a:avLst/>
          </a:prstGeom>
        </p:spPr>
      </p:pic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B36BC06D-6879-63B4-E825-4A1DA7576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29" y="613901"/>
            <a:ext cx="8001615" cy="582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345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C6D9BE-4FD8-9308-5DDE-5F6EE1A55D7F}"/>
              </a:ext>
            </a:extLst>
          </p:cNvPr>
          <p:cNvSpPr txBox="1"/>
          <p:nvPr/>
        </p:nvSpPr>
        <p:spPr>
          <a:xfrm>
            <a:off x="8959895" y="1567570"/>
            <a:ext cx="4975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BA78DF-B2F9-4637-FC06-6B1A31E8A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16" y="56535"/>
            <a:ext cx="1671484" cy="140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524B36-AE65-7BF5-8898-2C6AA64D8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4022"/>
            <a:ext cx="8959895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4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9CF024-9324-E1ED-2C52-3DEB91674A9F}"/>
              </a:ext>
            </a:extLst>
          </p:cNvPr>
          <p:cNvSpPr txBox="1"/>
          <p:nvPr/>
        </p:nvSpPr>
        <p:spPr>
          <a:xfrm>
            <a:off x="9065342" y="1248696"/>
            <a:ext cx="3057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69A9B1-A3FE-22DE-B7D2-F58EAD6DD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56535"/>
            <a:ext cx="1524000" cy="11921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3B928B-81B7-3BE5-2469-7C02A9E6B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24" y="1798772"/>
            <a:ext cx="9650172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17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3C4107-F276-3E5E-42BD-9CDB663143C9}"/>
              </a:ext>
            </a:extLst>
          </p:cNvPr>
          <p:cNvSpPr txBox="1"/>
          <p:nvPr/>
        </p:nvSpPr>
        <p:spPr>
          <a:xfrm>
            <a:off x="6862916" y="1002890"/>
            <a:ext cx="470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86D75-0F9B-61CB-F2CD-D227AE1A3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050" y="128433"/>
            <a:ext cx="1667950" cy="140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52D073-B52A-DAC7-3133-E1BFB5888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20" y="339213"/>
            <a:ext cx="4486315" cy="617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96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27F0AE-0860-EC47-0C63-548DA79CDBDD}"/>
              </a:ext>
            </a:extLst>
          </p:cNvPr>
          <p:cNvSpPr txBox="1"/>
          <p:nvPr/>
        </p:nvSpPr>
        <p:spPr>
          <a:xfrm>
            <a:off x="0" y="248756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6878167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1034</TotalTime>
  <Words>964</Words>
  <Application>Microsoft Office PowerPoint</Application>
  <PresentationFormat>Widescreen</PresentationFormat>
  <Paragraphs>104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Shivaniwar Ganesh</dc:creator>
  <cp:lastModifiedBy>Shivaniwar Ganesh</cp:lastModifiedBy>
  <cp:revision>34</cp:revision>
  <dcterms:created xsi:type="dcterms:W3CDTF">2025-03-24T08:29:44Z</dcterms:created>
  <dcterms:modified xsi:type="dcterms:W3CDTF">2026-02-02T14:13:21Z</dcterms:modified>
</cp:coreProperties>
</file>